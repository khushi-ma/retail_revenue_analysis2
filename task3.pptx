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5"/>
  </p:notesMasterIdLst>
  <p:sldIdLst>
    <p:sldId id="4778" r:id="rId2"/>
    <p:sldId id="1010" r:id="rId3"/>
    <p:sldId id="4780" r:id="rId4"/>
    <p:sldId id="4779" r:id="rId5"/>
    <p:sldId id="4781" r:id="rId6"/>
    <p:sldId id="4782" r:id="rId7"/>
    <p:sldId id="4783" r:id="rId8"/>
    <p:sldId id="4784" r:id="rId9"/>
    <p:sldId id="4785" r:id="rId10"/>
    <p:sldId id="4786" r:id="rId11"/>
    <p:sldId id="4787" r:id="rId12"/>
    <p:sldId id="4788" r:id="rId13"/>
    <p:sldId id="275" r:id="rId14"/>
  </p:sldIdLst>
  <p:sldSz cx="12192000" cy="6858000"/>
  <p:notesSz cx="6858000" cy="9144000"/>
  <p:embeddedFontLst>
    <p:embeddedFont>
      <p:font typeface="Roboto" panose="02000000000000000000" pitchFamily="2" charset="0"/>
      <p:regular r:id="rId16"/>
      <p:bold r:id="rId17"/>
      <p:italic r:id="rId18"/>
      <p:boldItalic r:id="rId19"/>
    </p:embeddedFont>
    <p:embeddedFont>
      <p:font typeface="Roboto Light" panose="02000000000000000000" pitchFamily="2" charset="0"/>
      <p:regular r:id="rId20"/>
      <p:italic r:id="rId21"/>
    </p:embeddedFont>
    <p:embeddedFont>
      <p:font typeface="Roboto Medium" panose="02000000000000000000" pitchFamily="2" charset="0"/>
      <p:regular r:id="rId22"/>
      <p: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 id="4787"/>
            <p14:sldId id="4788"/>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57" d="100"/>
          <a:sy n="57" d="100"/>
        </p:scale>
        <p:origin x="1188" y="44"/>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5/07/2026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13</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2020</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2818171" cy="1718742"/>
          </a:xfrm>
          <a:prstGeom prst="rect">
            <a:avLst/>
          </a:prstGeom>
          <a:noFill/>
        </p:spPr>
        <p:txBody>
          <a:bodyPr wrap="square" lIns="0" tIns="0" rIns="0" bIns="0" rtlCol="0" anchor="t">
            <a:noAutofit/>
          </a:bodyPr>
          <a:lstStyle/>
          <a:p>
            <a:r>
              <a:rPr lang="en-AU" sz="1200" dirty="0">
                <a:latin typeface="Roboto Light" panose="02000000000000000000" pitchFamily="2" charset="0"/>
                <a:ea typeface="Roboto Light" panose="02000000000000000000" pitchFamily="2" charset="0"/>
              </a:rPr>
              <a:t>Store: 77 – 233</a:t>
            </a:r>
          </a:p>
          <a:p>
            <a:r>
              <a:rPr lang="en-AU" sz="1200" dirty="0">
                <a:latin typeface="Roboto Light" panose="02000000000000000000" pitchFamily="2" charset="0"/>
                <a:ea typeface="Roboto Light" panose="02000000000000000000" pitchFamily="2" charset="0"/>
              </a:rPr>
              <a:t>T-statistic: 1.0590935477424306</a:t>
            </a:r>
          </a:p>
          <a:p>
            <a:r>
              <a:rPr lang="en-AU" sz="1200" dirty="0">
                <a:latin typeface="Roboto Light" panose="02000000000000000000" pitchFamily="2" charset="0"/>
                <a:ea typeface="Roboto Light" panose="02000000000000000000" pitchFamily="2" charset="0"/>
              </a:rPr>
              <a:t>P-value: 0.3389336098077161</a:t>
            </a:r>
          </a:p>
          <a:p>
            <a:endParaRPr lang="en-AU" sz="1200" dirty="0">
              <a:latin typeface="Roboto Light" panose="02000000000000000000" pitchFamily="2" charset="0"/>
              <a:ea typeface="Roboto Light" panose="02000000000000000000" pitchFamily="2" charset="0"/>
            </a:endParaRPr>
          </a:p>
          <a:p>
            <a:endParaRPr lang="en-AU" sz="1200" dirty="0">
              <a:latin typeface="Roboto Light" panose="02000000000000000000" pitchFamily="2" charset="0"/>
              <a:ea typeface="Roboto Light" panose="02000000000000000000" pitchFamily="2" charset="0"/>
            </a:endParaRPr>
          </a:p>
          <a:p>
            <a:r>
              <a:rPr lang="en-AU" sz="1200" dirty="0">
                <a:latin typeface="Roboto Light" panose="02000000000000000000" pitchFamily="2" charset="0"/>
                <a:ea typeface="Roboto Light" panose="02000000000000000000" pitchFamily="2" charset="0"/>
              </a:rPr>
              <a:t>Store: 88 – 178</a:t>
            </a:r>
          </a:p>
          <a:p>
            <a:r>
              <a:rPr lang="en-AU" sz="1200" dirty="0">
                <a:latin typeface="Roboto Light" panose="02000000000000000000" pitchFamily="2" charset="0"/>
                <a:ea typeface="Roboto Light" panose="02000000000000000000" pitchFamily="2" charset="0"/>
              </a:rPr>
              <a:t>T-statistic: 5.97551183716088</a:t>
            </a:r>
          </a:p>
          <a:p>
            <a:r>
              <a:rPr lang="en-AU" sz="1200" dirty="0">
                <a:latin typeface="Roboto Light" panose="02000000000000000000" pitchFamily="2" charset="0"/>
                <a:ea typeface="Roboto Light" panose="02000000000000000000" pitchFamily="2" charset="0"/>
              </a:rPr>
              <a:t>P-value: 0.001279899432293259</a:t>
            </a:r>
          </a:p>
        </p:txBody>
      </p:sp>
      <p:pic>
        <p:nvPicPr>
          <p:cNvPr id="12" name="Picture 11">
            <a:extLst>
              <a:ext uri="{FF2B5EF4-FFF2-40B4-BE49-F238E27FC236}">
                <a16:creationId xmlns:a16="http://schemas.microsoft.com/office/drawing/2014/main" id="{842AE899-F907-3327-9F4F-3D3700462A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3247" y="1277771"/>
            <a:ext cx="4362832" cy="2602701"/>
          </a:xfrm>
          <a:prstGeom prst="rect">
            <a:avLst/>
          </a:prstGeom>
        </p:spPr>
      </p:pic>
      <p:sp>
        <p:nvSpPr>
          <p:cNvPr id="15" name="TextBox 14">
            <a:extLst>
              <a:ext uri="{FF2B5EF4-FFF2-40B4-BE49-F238E27FC236}">
                <a16:creationId xmlns:a16="http://schemas.microsoft.com/office/drawing/2014/main" id="{E45792A2-5911-8DE2-272E-0932612A978B}"/>
              </a:ext>
            </a:extLst>
          </p:cNvPr>
          <p:cNvSpPr txBox="1"/>
          <p:nvPr/>
        </p:nvSpPr>
        <p:spPr>
          <a:xfrm>
            <a:off x="6913756" y="4095579"/>
            <a:ext cx="2818171" cy="1718742"/>
          </a:xfrm>
          <a:prstGeom prst="rect">
            <a:avLst/>
          </a:prstGeom>
          <a:noFill/>
        </p:spPr>
        <p:txBody>
          <a:bodyPr wrap="square" lIns="0" tIns="0" rIns="0" bIns="0" rtlCol="0" anchor="t">
            <a:noAutofit/>
          </a:bodyPr>
          <a:lstStyle/>
          <a:p>
            <a:r>
              <a:rPr lang="en-AU" sz="1200" dirty="0">
                <a:latin typeface="Roboto Light" panose="02000000000000000000" pitchFamily="2" charset="0"/>
                <a:ea typeface="Roboto Light" panose="02000000000000000000" pitchFamily="2" charset="0"/>
              </a:rPr>
              <a:t>Store: 86 – 155</a:t>
            </a:r>
          </a:p>
          <a:p>
            <a:r>
              <a:rPr lang="en-AU" sz="1200" dirty="0">
                <a:latin typeface="Roboto Light" panose="02000000000000000000" pitchFamily="2" charset="0"/>
                <a:ea typeface="Roboto Light" panose="02000000000000000000" pitchFamily="2" charset="0"/>
              </a:rPr>
              <a:t>T-statistic: 0.9914861460518972</a:t>
            </a:r>
          </a:p>
          <a:p>
            <a:r>
              <a:rPr lang="en-AU" sz="1200" dirty="0">
                <a:latin typeface="Roboto Light" panose="02000000000000000000" pitchFamily="2" charset="0"/>
                <a:ea typeface="Roboto Light" panose="02000000000000000000" pitchFamily="2" charset="0"/>
              </a:rPr>
              <a:t>P-value: 0.3567116251995605</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IN" dirty="0"/>
              <a:t>Category Overview</a:t>
            </a:r>
            <a:endParaRPr lang="en-AU" dirty="0"/>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pic>
        <p:nvPicPr>
          <p:cNvPr id="3" name="Picture 2">
            <a:extLst>
              <a:ext uri="{FF2B5EF4-FFF2-40B4-BE49-F238E27FC236}">
                <a16:creationId xmlns:a16="http://schemas.microsoft.com/office/drawing/2014/main" id="{73E70C58-3215-BC3D-04E2-9918E086A3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0339" y="909000"/>
            <a:ext cx="8431321" cy="5040000"/>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This slide will be commentary on affluence and its effect on consumer buying for the category of chips</a:t>
            </a:r>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pic>
        <p:nvPicPr>
          <p:cNvPr id="6" name="Picture 5">
            <a:extLst>
              <a:ext uri="{FF2B5EF4-FFF2-40B4-BE49-F238E27FC236}">
                <a16:creationId xmlns:a16="http://schemas.microsoft.com/office/drawing/2014/main" id="{5C4FDE9B-F318-E648-D32C-25C9DB8D0E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0898" y="1277771"/>
            <a:ext cx="6590204" cy="4680000"/>
          </a:xfrm>
          <a:prstGeom prst="rect">
            <a:avLst/>
          </a:prstGeom>
        </p:spPr>
      </p:pic>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Stretch: Try visualising the proportion of customers by affluence and life stage on this slide </a:t>
            </a:r>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pic>
        <p:nvPicPr>
          <p:cNvPr id="12" name="Picture 11">
            <a:extLst>
              <a:ext uri="{FF2B5EF4-FFF2-40B4-BE49-F238E27FC236}">
                <a16:creationId xmlns:a16="http://schemas.microsoft.com/office/drawing/2014/main" id="{70EC83C5-240F-6272-EE52-B509DE6A03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8712" y="1341388"/>
            <a:ext cx="7654576" cy="4680000"/>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Explanation of the control store vs other stores</a:t>
            </a:r>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pic>
        <p:nvPicPr>
          <p:cNvPr id="5" name="Picture 4">
            <a:extLst>
              <a:ext uri="{FF2B5EF4-FFF2-40B4-BE49-F238E27FC236}">
                <a16:creationId xmlns:a16="http://schemas.microsoft.com/office/drawing/2014/main" id="{06BE601C-70EE-1726-BEA1-9AD3BE933F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6975" y="909000"/>
            <a:ext cx="5086286" cy="2520000"/>
          </a:xfrm>
          <a:prstGeom prst="rect">
            <a:avLst/>
          </a:prstGeom>
        </p:spPr>
      </p:pic>
      <p:pic>
        <p:nvPicPr>
          <p:cNvPr id="7" name="Picture 6">
            <a:extLst>
              <a:ext uri="{FF2B5EF4-FFF2-40B4-BE49-F238E27FC236}">
                <a16:creationId xmlns:a16="http://schemas.microsoft.com/office/drawing/2014/main" id="{2D59A04A-701C-1871-5D4E-79328E90DA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7481" y="909000"/>
            <a:ext cx="5086286" cy="2520000"/>
          </a:xfrm>
          <a:prstGeom prst="rect">
            <a:avLst/>
          </a:prstGeom>
        </p:spPr>
      </p:pic>
      <p:pic>
        <p:nvPicPr>
          <p:cNvPr id="9" name="Picture 8">
            <a:extLst>
              <a:ext uri="{FF2B5EF4-FFF2-40B4-BE49-F238E27FC236}">
                <a16:creationId xmlns:a16="http://schemas.microsoft.com/office/drawing/2014/main" id="{72E6F663-7DC6-1DDB-F231-5C5512A099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37238" y="3501388"/>
            <a:ext cx="5086286" cy="2520000"/>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Call out of the performance in the trial store, determining if it was successful</a:t>
            </a: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pic>
        <p:nvPicPr>
          <p:cNvPr id="5" name="Picture 4">
            <a:extLst>
              <a:ext uri="{FF2B5EF4-FFF2-40B4-BE49-F238E27FC236}">
                <a16:creationId xmlns:a16="http://schemas.microsoft.com/office/drawing/2014/main" id="{1C7EDF8F-50FD-8511-8CB7-D2700D5CA3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6975" y="1149686"/>
            <a:ext cx="5086286" cy="2520000"/>
          </a:xfrm>
          <a:prstGeom prst="rect">
            <a:avLst/>
          </a:prstGeom>
        </p:spPr>
      </p:pic>
      <p:pic>
        <p:nvPicPr>
          <p:cNvPr id="7" name="Picture 6">
            <a:extLst>
              <a:ext uri="{FF2B5EF4-FFF2-40B4-BE49-F238E27FC236}">
                <a16:creationId xmlns:a16="http://schemas.microsoft.com/office/drawing/2014/main" id="{1A50A848-405B-5BBF-AF63-3B8E836FC0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6775" y="1149686"/>
            <a:ext cx="5086286" cy="2520000"/>
          </a:xfrm>
          <a:prstGeom prst="rect">
            <a:avLst/>
          </a:prstGeom>
        </p:spPr>
      </p:pic>
      <p:pic>
        <p:nvPicPr>
          <p:cNvPr id="9" name="Picture 8">
            <a:extLst>
              <a:ext uri="{FF2B5EF4-FFF2-40B4-BE49-F238E27FC236}">
                <a16:creationId xmlns:a16="http://schemas.microsoft.com/office/drawing/2014/main" id="{FC6F1050-34C7-30C9-CE18-791E3FFFAC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6875" y="3669686"/>
            <a:ext cx="5086286" cy="2520000"/>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2C2A33-1B38-32BA-1F53-6C60E65F5090}"/>
              </a:ext>
            </a:extLst>
          </p:cNvPr>
          <p:cNvSpPr>
            <a:spLocks noGrp="1"/>
          </p:cNvSpPr>
          <p:nvPr>
            <p:ph type="body" sz="quarter" idx="10"/>
          </p:nvPr>
        </p:nvSpPr>
        <p:spPr/>
        <p:txBody>
          <a:bodyPr/>
          <a:lstStyle/>
          <a:p>
            <a:r>
              <a:rPr lang="en-US" b="1" dirty="0"/>
              <a:t>Recommendations</a:t>
            </a:r>
            <a:endParaRPr lang="en-IN" b="1" dirty="0"/>
          </a:p>
        </p:txBody>
      </p:sp>
      <p:sp>
        <p:nvSpPr>
          <p:cNvPr id="3" name="TextBox 2">
            <a:extLst>
              <a:ext uri="{FF2B5EF4-FFF2-40B4-BE49-F238E27FC236}">
                <a16:creationId xmlns:a16="http://schemas.microsoft.com/office/drawing/2014/main" id="{2B933ADB-DBCA-B0FB-48F0-7C2C1294DACB}"/>
              </a:ext>
            </a:extLst>
          </p:cNvPr>
          <p:cNvSpPr txBox="1"/>
          <p:nvPr/>
        </p:nvSpPr>
        <p:spPr>
          <a:xfrm>
            <a:off x="1206500" y="1304924"/>
            <a:ext cx="10470075" cy="4716463"/>
          </a:xfrm>
          <a:prstGeom prst="rect">
            <a:avLst/>
          </a:prstGeom>
          <a:noFill/>
        </p:spPr>
        <p:txBody>
          <a:bodyPr wrap="square" lIns="0" tIns="0" rIns="0" bIns="0" rtlCol="0" anchor="t">
            <a:noAutofit/>
          </a:bodyPr>
          <a:lstStyle/>
          <a:p>
            <a:pPr marL="534988" marR="0" lvl="0" indent="-357188" algn="l" defTabSz="914400" rtl="0" eaLnBrk="0" fontAlgn="base" latinLnBrk="0" hangingPunct="0">
              <a:lnSpc>
                <a:spcPct val="150000"/>
              </a:lnSpc>
              <a:spcBef>
                <a:spcPct val="0"/>
              </a:spcBef>
              <a:spcAft>
                <a:spcPct val="0"/>
              </a:spcAft>
              <a:buClrTx/>
              <a:buSzTx/>
              <a:tabLst/>
              <a:defRPr/>
            </a:pPr>
            <a:r>
              <a:rPr kumimoji="0" lang="en-US" altLang="en-US" sz="1800" b="1" i="0" u="none" strike="noStrike" kern="1200" cap="none" spc="0" normalizeH="0" baseline="0" noProof="0" dirty="0">
                <a:ln>
                  <a:noFill/>
                </a:ln>
                <a:solidFill>
                  <a:srgbClr val="000005"/>
                </a:solidFill>
                <a:effectLst/>
                <a:uLnTx/>
                <a:uFillTx/>
                <a:latin typeface="Arial" panose="020B0604020202020204" pitchFamily="34" charset="0"/>
                <a:ea typeface="+mn-ea"/>
                <a:cs typeface="+mn-cs"/>
              </a:rPr>
              <a:t>Focus on High-Value Customer Segments</a:t>
            </a:r>
            <a:endParaRPr kumimoji="0" lang="en-US" altLang="en-US" sz="1800" b="0" i="0" u="none" strike="noStrike" kern="1200" cap="none" spc="0" normalizeH="0" baseline="0" noProof="0" dirty="0">
              <a:ln>
                <a:noFill/>
              </a:ln>
              <a:solidFill>
                <a:srgbClr val="000005"/>
              </a:solidFill>
              <a:effectLst/>
              <a:uLnTx/>
              <a:uFillTx/>
              <a:latin typeface="Arial" panose="020B0604020202020204" pitchFamily="34" charset="0"/>
              <a:ea typeface="+mn-ea"/>
              <a:cs typeface="+mn-cs"/>
            </a:endParaRPr>
          </a:p>
          <a:p>
            <a:pPr marL="177800" marR="0" lvl="0" algn="l" defTabSz="914400" rtl="0" eaLnBrk="0" fontAlgn="base" latinLnBrk="0" hangingPunct="0">
              <a:lnSpc>
                <a:spcPct val="150000"/>
              </a:lnSpc>
              <a:spcBef>
                <a:spcPct val="0"/>
              </a:spcBef>
              <a:spcAft>
                <a:spcPct val="0"/>
              </a:spcAft>
              <a:buClrTx/>
              <a:buSzTx/>
              <a:tabLst/>
              <a:defRPr/>
            </a:pPr>
            <a:r>
              <a:rPr kumimoji="0" lang="en-US" altLang="en-US" sz="1800" b="0" i="0" u="none" strike="noStrike" kern="1200" cap="none" spc="0" normalizeH="0" baseline="0" noProof="0" dirty="0">
                <a:ln>
                  <a:noFill/>
                </a:ln>
                <a:solidFill>
                  <a:srgbClr val="000005"/>
                </a:solidFill>
                <a:effectLst/>
                <a:uLnTx/>
                <a:uFillTx/>
                <a:latin typeface="Arial" panose="020B0604020202020204" pitchFamily="34" charset="0"/>
                <a:ea typeface="+mn-ea"/>
                <a:cs typeface="+mn-cs"/>
              </a:rPr>
              <a:t>Prioritize Older Singles/Couples, Retirees, and Older Families through targeted promotions, loyalty programs, and personalized offers.</a:t>
            </a:r>
          </a:p>
          <a:p>
            <a:pPr marL="534988" marR="0" lvl="0" indent="-357188" algn="l" defTabSz="914400" rtl="0" eaLnBrk="0" fontAlgn="base" latinLnBrk="0" hangingPunct="0">
              <a:lnSpc>
                <a:spcPct val="150000"/>
              </a:lnSpc>
              <a:spcBef>
                <a:spcPct val="0"/>
              </a:spcBef>
              <a:spcAft>
                <a:spcPct val="0"/>
              </a:spcAft>
              <a:buClrTx/>
              <a:buSzTx/>
              <a:tabLst/>
              <a:defRPr/>
            </a:pPr>
            <a:r>
              <a:rPr kumimoji="0" lang="en-US" altLang="en-US" sz="1800" b="1" i="0" u="none" strike="noStrike" kern="1200" cap="none" spc="0" normalizeH="0" baseline="0" noProof="0" dirty="0">
                <a:ln>
                  <a:noFill/>
                </a:ln>
                <a:solidFill>
                  <a:srgbClr val="000005"/>
                </a:solidFill>
                <a:effectLst/>
                <a:uLnTx/>
                <a:uFillTx/>
                <a:latin typeface="Arial" panose="020B0604020202020204" pitchFamily="34" charset="0"/>
                <a:ea typeface="+mn-ea"/>
                <a:cs typeface="+mn-cs"/>
              </a:rPr>
              <a:t>Strengthen Mainstream Customer Engagement</a:t>
            </a:r>
            <a:endParaRPr kumimoji="0" lang="en-US" altLang="en-US" sz="1800" b="0" i="0" u="none" strike="noStrike" kern="1200" cap="none" spc="0" normalizeH="0" baseline="0" noProof="0" dirty="0">
              <a:ln>
                <a:noFill/>
              </a:ln>
              <a:solidFill>
                <a:srgbClr val="000005"/>
              </a:solidFill>
              <a:effectLst/>
              <a:uLnTx/>
              <a:uFillTx/>
              <a:latin typeface="Arial" panose="020B0604020202020204" pitchFamily="34" charset="0"/>
              <a:ea typeface="+mn-ea"/>
              <a:cs typeface="+mn-cs"/>
            </a:endParaRPr>
          </a:p>
          <a:p>
            <a:pPr marL="177800" marR="0" lvl="0" algn="l" defTabSz="914400" rtl="0" eaLnBrk="0" fontAlgn="base" latinLnBrk="0" hangingPunct="0">
              <a:lnSpc>
                <a:spcPct val="150000"/>
              </a:lnSpc>
              <a:spcBef>
                <a:spcPct val="0"/>
              </a:spcBef>
              <a:spcAft>
                <a:spcPct val="0"/>
              </a:spcAft>
              <a:buClrTx/>
              <a:buSzTx/>
              <a:tabLst/>
              <a:defRPr/>
            </a:pPr>
            <a:r>
              <a:rPr kumimoji="0" lang="en-US" altLang="en-US" sz="1800" b="0" i="0" u="none" strike="noStrike" kern="1200" cap="none" spc="0" normalizeH="0" baseline="0" noProof="0" dirty="0">
                <a:ln>
                  <a:noFill/>
                </a:ln>
                <a:solidFill>
                  <a:srgbClr val="000005"/>
                </a:solidFill>
                <a:effectLst/>
                <a:uLnTx/>
                <a:uFillTx/>
                <a:latin typeface="Arial" panose="020B0604020202020204" pitchFamily="34" charset="0"/>
                <a:ea typeface="+mn-ea"/>
                <a:cs typeface="+mn-cs"/>
              </a:rPr>
              <a:t>Drive category growth with promotions, cross-selling, and loyalty rewards for Mainstream customers.</a:t>
            </a:r>
          </a:p>
          <a:p>
            <a:pPr marL="534988" marR="0" lvl="0" indent="-357188" algn="l" defTabSz="914400" rtl="0" eaLnBrk="0" fontAlgn="base" latinLnBrk="0" hangingPunct="0">
              <a:lnSpc>
                <a:spcPct val="150000"/>
              </a:lnSpc>
              <a:spcBef>
                <a:spcPct val="0"/>
              </a:spcBef>
              <a:spcAft>
                <a:spcPct val="0"/>
              </a:spcAft>
              <a:buClrTx/>
              <a:buSzTx/>
              <a:tabLst/>
              <a:defRPr/>
            </a:pPr>
            <a:r>
              <a:rPr kumimoji="0" lang="en-US" altLang="en-US" sz="1800" b="1" i="0" u="none" strike="noStrike" kern="1200" cap="none" spc="0" normalizeH="0" baseline="0" noProof="0" dirty="0">
                <a:ln>
                  <a:noFill/>
                </a:ln>
                <a:solidFill>
                  <a:srgbClr val="000005"/>
                </a:solidFill>
                <a:effectLst/>
                <a:uLnTx/>
                <a:uFillTx/>
                <a:latin typeface="Arial" panose="020B0604020202020204" pitchFamily="34" charset="0"/>
                <a:ea typeface="+mn-ea"/>
                <a:cs typeface="+mn-cs"/>
              </a:rPr>
              <a:t>Optimize Brands and Pack Sizes</a:t>
            </a:r>
            <a:endParaRPr kumimoji="0" lang="en-US" altLang="en-US" sz="1800" b="0" i="0" u="none" strike="noStrike" kern="1200" cap="none" spc="0" normalizeH="0" baseline="0" noProof="0" dirty="0">
              <a:ln>
                <a:noFill/>
              </a:ln>
              <a:solidFill>
                <a:srgbClr val="000005"/>
              </a:solidFill>
              <a:effectLst/>
              <a:uLnTx/>
              <a:uFillTx/>
              <a:latin typeface="Arial" panose="020B0604020202020204" pitchFamily="34" charset="0"/>
              <a:ea typeface="+mn-ea"/>
              <a:cs typeface="+mn-cs"/>
            </a:endParaRPr>
          </a:p>
          <a:p>
            <a:pPr marL="177800" marR="0" lvl="0" algn="l" defTabSz="914400" rtl="0" eaLnBrk="0" fontAlgn="base" latinLnBrk="0" hangingPunct="0">
              <a:lnSpc>
                <a:spcPct val="150000"/>
              </a:lnSpc>
              <a:spcBef>
                <a:spcPct val="0"/>
              </a:spcBef>
              <a:spcAft>
                <a:spcPct val="0"/>
              </a:spcAft>
              <a:buClrTx/>
              <a:buSzTx/>
              <a:tabLst/>
              <a:defRPr/>
            </a:pPr>
            <a:r>
              <a:rPr kumimoji="0" lang="en-US" altLang="en-US" sz="1800" b="0" i="0" u="none" strike="noStrike" kern="1200" cap="none" spc="0" normalizeH="0" baseline="0" noProof="0" dirty="0">
                <a:ln>
                  <a:noFill/>
                </a:ln>
                <a:solidFill>
                  <a:srgbClr val="000005"/>
                </a:solidFill>
                <a:effectLst/>
                <a:uLnTx/>
                <a:uFillTx/>
                <a:latin typeface="Arial" panose="020B0604020202020204" pitchFamily="34" charset="0"/>
                <a:ea typeface="+mn-ea"/>
                <a:cs typeface="+mn-cs"/>
              </a:rPr>
              <a:t>Ensure strong availability and promotional support for top brands (Kettle, Doritos, Pringles).</a:t>
            </a:r>
          </a:p>
          <a:p>
            <a:pPr marL="177800" marR="0" lvl="0" algn="l" defTabSz="914400" rtl="0" eaLnBrk="0" fontAlgn="base" latinLnBrk="0" hangingPunct="0">
              <a:lnSpc>
                <a:spcPct val="150000"/>
              </a:lnSpc>
              <a:spcBef>
                <a:spcPct val="0"/>
              </a:spcBef>
              <a:spcAft>
                <a:spcPct val="0"/>
              </a:spcAft>
              <a:buClrTx/>
              <a:buSzTx/>
              <a:tabLst/>
              <a:defRPr/>
            </a:pPr>
            <a:r>
              <a:rPr kumimoji="0" lang="en-US" altLang="en-US" sz="1800" b="0" i="0" u="none" strike="noStrike" kern="1200" cap="none" spc="0" normalizeH="0" baseline="0" noProof="0" dirty="0">
                <a:ln>
                  <a:noFill/>
                </a:ln>
                <a:solidFill>
                  <a:srgbClr val="000005"/>
                </a:solidFill>
                <a:effectLst/>
                <a:uLnTx/>
                <a:uFillTx/>
                <a:latin typeface="Arial" panose="020B0604020202020204" pitchFamily="34" charset="0"/>
                <a:ea typeface="+mn-ea"/>
                <a:cs typeface="+mn-cs"/>
              </a:rPr>
              <a:t>Prioritize 150g–175g pack sizes in inventory planning, merchandising, and promotions.</a:t>
            </a:r>
          </a:p>
          <a:p>
            <a:pPr marL="534988" marR="0" lvl="0" indent="-357188" algn="l" defTabSz="914400" rtl="0" eaLnBrk="0" fontAlgn="base" latinLnBrk="0" hangingPunct="0">
              <a:lnSpc>
                <a:spcPct val="150000"/>
              </a:lnSpc>
              <a:spcBef>
                <a:spcPct val="0"/>
              </a:spcBef>
              <a:spcAft>
                <a:spcPct val="0"/>
              </a:spcAft>
              <a:buClrTx/>
              <a:buSzTx/>
              <a:tabLst/>
              <a:defRPr/>
            </a:pPr>
            <a:r>
              <a:rPr kumimoji="0" lang="en-US" altLang="en-US" sz="1800" b="1" i="0" u="none" strike="noStrike" kern="1200" cap="none" spc="0" normalizeH="0" baseline="0" noProof="0" dirty="0">
                <a:ln>
                  <a:noFill/>
                </a:ln>
                <a:solidFill>
                  <a:srgbClr val="000005"/>
                </a:solidFill>
                <a:effectLst/>
                <a:uLnTx/>
                <a:uFillTx/>
                <a:latin typeface="Arial" panose="020B0604020202020204" pitchFamily="34" charset="0"/>
                <a:ea typeface="+mn-ea"/>
                <a:cs typeface="+mn-cs"/>
              </a:rPr>
              <a:t>Scale Successful Trial Initiatives</a:t>
            </a:r>
            <a:endParaRPr kumimoji="0" lang="en-US" altLang="en-US" sz="1800" b="0" i="0" u="none" strike="noStrike" kern="1200" cap="none" spc="0" normalizeH="0" baseline="0" noProof="0" dirty="0">
              <a:ln>
                <a:noFill/>
              </a:ln>
              <a:solidFill>
                <a:srgbClr val="000005"/>
              </a:solidFill>
              <a:effectLst/>
              <a:uLnTx/>
              <a:uFillTx/>
              <a:latin typeface="Arial" panose="020B0604020202020204" pitchFamily="34" charset="0"/>
              <a:ea typeface="+mn-ea"/>
              <a:cs typeface="+mn-cs"/>
            </a:endParaRPr>
          </a:p>
          <a:p>
            <a:pPr marL="177800" marR="0" lvl="0" algn="l" defTabSz="914400" rtl="0" eaLnBrk="0" fontAlgn="base" latinLnBrk="0" hangingPunct="0">
              <a:lnSpc>
                <a:spcPct val="150000"/>
              </a:lnSpc>
              <a:spcBef>
                <a:spcPct val="0"/>
              </a:spcBef>
              <a:spcAft>
                <a:spcPct val="0"/>
              </a:spcAft>
              <a:buClrTx/>
              <a:buSzTx/>
              <a:tabLst/>
              <a:defRPr/>
            </a:pPr>
            <a:r>
              <a:rPr kumimoji="0" lang="en-US" altLang="en-US" sz="1800" b="0" i="0" u="none" strike="noStrike" kern="1200" cap="none" spc="0" normalizeH="0" baseline="0" noProof="0" dirty="0">
                <a:ln>
                  <a:noFill/>
                </a:ln>
                <a:solidFill>
                  <a:srgbClr val="000005"/>
                </a:solidFill>
                <a:effectLst/>
                <a:uLnTx/>
                <a:uFillTx/>
                <a:latin typeface="Arial" panose="020B0604020202020204" pitchFamily="34" charset="0"/>
                <a:ea typeface="+mn-ea"/>
                <a:cs typeface="+mn-cs"/>
              </a:rPr>
              <a:t>Roll out proven trial-store strategies to similar stores and monitor performance to ensure sustained results.</a:t>
            </a:r>
          </a:p>
          <a:p>
            <a:pPr marL="534988" marR="0" lvl="0" indent="-357188" algn="l" defTabSz="914400" rtl="0" eaLnBrk="0" fontAlgn="base" latinLnBrk="0" hangingPunct="0">
              <a:lnSpc>
                <a:spcPct val="15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5"/>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48289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BF743-2B11-172C-B176-5F34CDB1D9A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9BEED01-AA2C-05B8-0580-81445BCFA3A7}"/>
              </a:ext>
            </a:extLst>
          </p:cNvPr>
          <p:cNvSpPr>
            <a:spLocks noGrp="1"/>
          </p:cNvSpPr>
          <p:nvPr>
            <p:ph type="body" sz="quarter" idx="10"/>
          </p:nvPr>
        </p:nvSpPr>
        <p:spPr/>
        <p:txBody>
          <a:bodyPr/>
          <a:lstStyle/>
          <a:p>
            <a:r>
              <a:rPr lang="en-US" b="1" dirty="0"/>
              <a:t>Next Steps</a:t>
            </a:r>
            <a:endParaRPr lang="en-IN" b="1" dirty="0"/>
          </a:p>
        </p:txBody>
      </p:sp>
      <p:sp>
        <p:nvSpPr>
          <p:cNvPr id="3" name="TextBox 2">
            <a:extLst>
              <a:ext uri="{FF2B5EF4-FFF2-40B4-BE49-F238E27FC236}">
                <a16:creationId xmlns:a16="http://schemas.microsoft.com/office/drawing/2014/main" id="{610B0224-915D-77CE-D796-01EB19D6D800}"/>
              </a:ext>
            </a:extLst>
          </p:cNvPr>
          <p:cNvSpPr txBox="1"/>
          <p:nvPr/>
        </p:nvSpPr>
        <p:spPr>
          <a:xfrm>
            <a:off x="1206500" y="1304924"/>
            <a:ext cx="10470075" cy="4716463"/>
          </a:xfrm>
          <a:prstGeom prst="rect">
            <a:avLst/>
          </a:prstGeom>
          <a:noFill/>
        </p:spPr>
        <p:txBody>
          <a:bodyPr wrap="square" lIns="0" tIns="0" rIns="0" bIns="0" rtlCol="0" anchor="t">
            <a:noAutofit/>
          </a:bodyPr>
          <a:lstStyle/>
          <a:p>
            <a:pPr marL="177800">
              <a:lnSpc>
                <a:spcPct val="150000"/>
              </a:lnSpc>
            </a:pPr>
            <a:r>
              <a:rPr lang="en-US" b="1" dirty="0">
                <a:latin typeface="Arial" panose="020B0604020202020204" pitchFamily="34" charset="0"/>
                <a:cs typeface="Arial" panose="020B0604020202020204" pitchFamily="34" charset="0"/>
              </a:rPr>
              <a:t>Short-Term (0–3 Months)</a:t>
            </a:r>
            <a:endParaRPr lang="en-US" dirty="0">
              <a:latin typeface="Arial" panose="020B0604020202020204" pitchFamily="34" charset="0"/>
              <a:cs typeface="Arial" panose="020B0604020202020204" pitchFamily="34" charset="0"/>
            </a:endParaRPr>
          </a:p>
          <a:p>
            <a:pPr marL="177800">
              <a:lnSpc>
                <a:spcPct val="150000"/>
              </a:lnSpc>
            </a:pPr>
            <a:r>
              <a:rPr lang="en-US" dirty="0">
                <a:latin typeface="Arial" panose="020B0604020202020204" pitchFamily="34" charset="0"/>
                <a:cs typeface="Arial" panose="020B0604020202020204" pitchFamily="34" charset="0"/>
              </a:rPr>
              <a:t>Launch targeted campaigns for key customer segments.</a:t>
            </a:r>
          </a:p>
          <a:p>
            <a:pPr marL="177800">
              <a:lnSpc>
                <a:spcPct val="150000"/>
              </a:lnSpc>
            </a:pPr>
            <a:r>
              <a:rPr lang="en-US" dirty="0">
                <a:latin typeface="Arial" panose="020B0604020202020204" pitchFamily="34" charset="0"/>
                <a:cs typeface="Arial" panose="020B0604020202020204" pitchFamily="34" charset="0"/>
              </a:rPr>
              <a:t>Increase visibility of leading brands.</a:t>
            </a:r>
          </a:p>
          <a:p>
            <a:pPr marL="177800">
              <a:lnSpc>
                <a:spcPct val="150000"/>
              </a:lnSpc>
            </a:pPr>
            <a:r>
              <a:rPr lang="en-US" dirty="0">
                <a:latin typeface="Arial" panose="020B0604020202020204" pitchFamily="34" charset="0"/>
                <a:cs typeface="Arial" panose="020B0604020202020204" pitchFamily="34" charset="0"/>
              </a:rPr>
              <a:t>Maintain adequate stock of 150g–175g products during promotions.</a:t>
            </a:r>
          </a:p>
          <a:p>
            <a:pPr marL="177800">
              <a:lnSpc>
                <a:spcPct val="150000"/>
              </a:lnSpc>
            </a:pPr>
            <a:r>
              <a:rPr lang="en-US" b="1" dirty="0">
                <a:latin typeface="Arial" panose="020B0604020202020204" pitchFamily="34" charset="0"/>
                <a:cs typeface="Arial" panose="020B0604020202020204" pitchFamily="34" charset="0"/>
              </a:rPr>
              <a:t>Medium-Term (3–6 Months)</a:t>
            </a:r>
            <a:endParaRPr lang="en-US" dirty="0">
              <a:latin typeface="Arial" panose="020B0604020202020204" pitchFamily="34" charset="0"/>
              <a:cs typeface="Arial" panose="020B0604020202020204" pitchFamily="34" charset="0"/>
            </a:endParaRPr>
          </a:p>
          <a:p>
            <a:pPr marL="177800">
              <a:lnSpc>
                <a:spcPct val="150000"/>
              </a:lnSpc>
            </a:pPr>
            <a:r>
              <a:rPr lang="en-US" dirty="0">
                <a:latin typeface="Arial" panose="020B0604020202020204" pitchFamily="34" charset="0"/>
                <a:cs typeface="Arial" panose="020B0604020202020204" pitchFamily="34" charset="0"/>
              </a:rPr>
              <a:t>Expand successful trial strategies to comparable stores.</a:t>
            </a:r>
          </a:p>
          <a:p>
            <a:pPr marL="177800">
              <a:lnSpc>
                <a:spcPct val="150000"/>
              </a:lnSpc>
            </a:pPr>
            <a:r>
              <a:rPr lang="en-US" dirty="0">
                <a:latin typeface="Arial" panose="020B0604020202020204" pitchFamily="34" charset="0"/>
                <a:cs typeface="Arial" panose="020B0604020202020204" pitchFamily="34" charset="0"/>
              </a:rPr>
              <a:t>Refine customer segmentation and evaluate promotional effectiveness.</a:t>
            </a:r>
          </a:p>
          <a:p>
            <a:pPr marL="177800">
              <a:lnSpc>
                <a:spcPct val="150000"/>
              </a:lnSpc>
            </a:pPr>
            <a:r>
              <a:rPr lang="en-US" b="1" dirty="0">
                <a:latin typeface="Arial" panose="020B0604020202020204" pitchFamily="34" charset="0"/>
                <a:cs typeface="Arial" panose="020B0604020202020204" pitchFamily="34" charset="0"/>
              </a:rPr>
              <a:t>Long-Term</a:t>
            </a:r>
            <a:endParaRPr lang="en-US" dirty="0">
              <a:latin typeface="Arial" panose="020B0604020202020204" pitchFamily="34" charset="0"/>
              <a:cs typeface="Arial" panose="020B0604020202020204" pitchFamily="34" charset="0"/>
            </a:endParaRPr>
          </a:p>
          <a:p>
            <a:pPr marL="177800">
              <a:lnSpc>
                <a:spcPct val="150000"/>
              </a:lnSpc>
            </a:pPr>
            <a:r>
              <a:rPr lang="en-US" dirty="0">
                <a:latin typeface="Arial" panose="020B0604020202020204" pitchFamily="34" charset="0"/>
                <a:cs typeface="Arial" panose="020B0604020202020204" pitchFamily="34" charset="0"/>
              </a:rPr>
              <a:t>Develop customer-centric category strategies based on life stage and buying behavior.</a:t>
            </a:r>
          </a:p>
          <a:p>
            <a:pPr marL="177800">
              <a:lnSpc>
                <a:spcPct val="150000"/>
              </a:lnSpc>
            </a:pPr>
            <a:r>
              <a:rPr lang="en-US" dirty="0">
                <a:latin typeface="Arial" panose="020B0604020202020204" pitchFamily="34" charset="0"/>
                <a:cs typeface="Arial" panose="020B0604020202020204" pitchFamily="34" charset="0"/>
              </a:rPr>
              <a:t>Enhance demand forecasting and continue monitoring trial outcomes.</a:t>
            </a:r>
          </a:p>
        </p:txBody>
      </p:sp>
    </p:spTree>
    <p:extLst>
      <p:ext uri="{BB962C8B-B14F-4D97-AF65-F5344CB8AC3E}">
        <p14:creationId xmlns:p14="http://schemas.microsoft.com/office/powerpoint/2010/main" val="2990395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6352</TotalTime>
  <Words>545</Words>
  <Application>Microsoft Office PowerPoint</Application>
  <PresentationFormat>Widescreen</PresentationFormat>
  <Paragraphs>66</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Roboto Light</vt:lpstr>
      <vt:lpstr>Roboto</vt:lpstr>
      <vt:lpstr>Roboto Medium</vt:lpstr>
      <vt:lpstr>Calibri</vt:lpstr>
      <vt:lpstr>Arial</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Khushi M Appannavar</cp:lastModifiedBy>
  <cp:revision>476</cp:revision>
  <dcterms:created xsi:type="dcterms:W3CDTF">2018-02-07T23:23:24Z</dcterms:created>
  <dcterms:modified xsi:type="dcterms:W3CDTF">2026-07-05T17:08:43Z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